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68" r:id="rId2"/>
    <p:sldId id="259" r:id="rId3"/>
    <p:sldId id="269" r:id="rId4"/>
    <p:sldId id="270" r:id="rId5"/>
    <p:sldId id="271" r:id="rId6"/>
    <p:sldId id="277" r:id="rId7"/>
    <p:sldId id="272" r:id="rId8"/>
    <p:sldId id="273" r:id="rId9"/>
    <p:sldId id="274" r:id="rId10"/>
    <p:sldId id="275" r:id="rId11"/>
    <p:sldId id="276" r:id="rId12"/>
    <p:sldId id="278" r:id="rId13"/>
    <p:sldId id="281" r:id="rId14"/>
    <p:sldId id="280" r:id="rId15"/>
    <p:sldId id="282" r:id="rId16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E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33" autoAdjust="0"/>
  </p:normalViewPr>
  <p:slideViewPr>
    <p:cSldViewPr snapToGrid="0" showGuides="1">
      <p:cViewPr varScale="1">
        <p:scale>
          <a:sx n="109" d="100"/>
          <a:sy n="109" d="100"/>
        </p:scale>
        <p:origin x="691" y="82"/>
      </p:cViewPr>
      <p:guideLst/>
    </p:cSldViewPr>
  </p:slideViewPr>
  <p:outlineViewPr>
    <p:cViewPr>
      <p:scale>
        <a:sx n="33" d="100"/>
        <a:sy n="33" d="100"/>
      </p:scale>
      <p:origin x="0" y="-397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25DE2-B715-4EA4-8CF0-DA425EA806A7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9BBE-B871-48D7-983C-C0B1D7156D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1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919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1206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at the top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lack75"/>
          <p:cNvSpPr/>
          <p:nvPr userDrawn="1"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756049"/>
            <a:ext cx="9143999" cy="792000"/>
          </a:xfr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defRPr sz="22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Example of a title at the top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" y="1548000"/>
            <a:ext cx="9143999" cy="288000"/>
          </a:xfr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 OR DATE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990975"/>
            <a:ext cx="9143999" cy="576263"/>
          </a:xfrm>
          <a:solidFill>
            <a:srgbClr val="000000">
              <a:alpha val="25000"/>
            </a:srgbClr>
          </a:solidFill>
          <a:ln>
            <a:noFill/>
          </a:ln>
        </p:spPr>
        <p:txBody>
          <a:bodyPr lIns="756000" anchor="ctr" anchorCtr="0"/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Name, Function</a:t>
            </a:r>
          </a:p>
        </p:txBody>
      </p:sp>
      <p:sp>
        <p:nvSpPr>
          <p:cNvPr id="11" name="Tijdelijke aanduiding voor tekst 8"/>
          <p:cNvSpPr>
            <a:spLocks noGrp="1"/>
          </p:cNvSpPr>
          <p:nvPr>
            <p:ph type="body" sz="quarter" idx="14" hasCustomPrompt="1"/>
          </p:nvPr>
        </p:nvSpPr>
        <p:spPr>
          <a:xfrm>
            <a:off x="-6667" y="4567237"/>
            <a:ext cx="7347267" cy="576263"/>
          </a:xfrm>
          <a:solidFill>
            <a:srgbClr val="FFFFFF"/>
          </a:solidFill>
          <a:ln>
            <a:noFill/>
          </a:ln>
        </p:spPr>
        <p:txBody>
          <a:bodyPr lIns="756000" anchor="ctr" anchorCtr="0"/>
          <a:lstStyle>
            <a:lvl1pPr>
              <a:defRPr sz="11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Department, Sub department or Capacity Group</a:t>
            </a:r>
          </a:p>
        </p:txBody>
      </p:sp>
    </p:spTree>
    <p:extLst>
      <p:ext uri="{BB962C8B-B14F-4D97-AF65-F5344CB8AC3E}">
        <p14:creationId xmlns:p14="http://schemas.microsoft.com/office/powerpoint/2010/main" val="164422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in th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ack75"/>
          <p:cNvSpPr/>
          <p:nvPr userDrawn="1"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1835549"/>
            <a:ext cx="9143999" cy="792000"/>
          </a:xfr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Example of a title in the middle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" y="2628097"/>
            <a:ext cx="9143999" cy="288000"/>
          </a:xfr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 OR DATE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990975"/>
            <a:ext cx="9143999" cy="576263"/>
          </a:xfrm>
          <a:solidFill>
            <a:srgbClr val="000000">
              <a:alpha val="25098"/>
            </a:srgbClr>
          </a:solidFill>
          <a:ln>
            <a:noFill/>
          </a:ln>
        </p:spPr>
        <p:txBody>
          <a:bodyPr lIns="756000" anchor="ctr" anchorCtr="0"/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Name, Function</a:t>
            </a:r>
          </a:p>
        </p:txBody>
      </p:sp>
      <p:sp>
        <p:nvSpPr>
          <p:cNvPr id="11" name="Tijdelijke aanduiding voor tekst 8"/>
          <p:cNvSpPr>
            <a:spLocks noGrp="1"/>
          </p:cNvSpPr>
          <p:nvPr>
            <p:ph type="body" sz="quarter" idx="14" hasCustomPrompt="1"/>
          </p:nvPr>
        </p:nvSpPr>
        <p:spPr>
          <a:xfrm>
            <a:off x="-6667" y="4567237"/>
            <a:ext cx="7347267" cy="576263"/>
          </a:xfrm>
          <a:solidFill>
            <a:srgbClr val="FFFFFF"/>
          </a:solidFill>
          <a:ln>
            <a:noFill/>
          </a:ln>
        </p:spPr>
        <p:txBody>
          <a:bodyPr lIns="756000" anchor="ctr" anchorCtr="0"/>
          <a:lstStyle>
            <a:lvl1pPr>
              <a:defRPr sz="11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Department, Sub department or Capacity Group</a:t>
            </a:r>
          </a:p>
        </p:txBody>
      </p:sp>
    </p:spTree>
    <p:extLst>
      <p:ext uri="{BB962C8B-B14F-4D97-AF65-F5344CB8AC3E}">
        <p14:creationId xmlns:p14="http://schemas.microsoft.com/office/powerpoint/2010/main" val="29311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at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ack75"/>
          <p:cNvSpPr/>
          <p:nvPr userDrawn="1"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2915049"/>
            <a:ext cx="9143999" cy="792000"/>
          </a:xfr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Example of a title at the bottom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" y="3708591"/>
            <a:ext cx="9143999" cy="288000"/>
          </a:xfr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 OR DATE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990975"/>
            <a:ext cx="9143999" cy="576263"/>
          </a:xfrm>
          <a:solidFill>
            <a:srgbClr val="000000">
              <a:alpha val="25098"/>
            </a:srgbClr>
          </a:solidFill>
          <a:ln>
            <a:noFill/>
          </a:ln>
        </p:spPr>
        <p:txBody>
          <a:bodyPr lIns="756000" anchor="ctr" anchorCtr="0"/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Name, Function</a:t>
            </a:r>
          </a:p>
        </p:txBody>
      </p:sp>
      <p:sp>
        <p:nvSpPr>
          <p:cNvPr id="11" name="Tijdelijke aanduiding voor tekst 8"/>
          <p:cNvSpPr>
            <a:spLocks noGrp="1"/>
          </p:cNvSpPr>
          <p:nvPr>
            <p:ph type="body" sz="quarter" idx="14" hasCustomPrompt="1"/>
          </p:nvPr>
        </p:nvSpPr>
        <p:spPr>
          <a:xfrm>
            <a:off x="-6667" y="4567237"/>
            <a:ext cx="7347267" cy="576263"/>
          </a:xfrm>
          <a:solidFill>
            <a:srgbClr val="FFFFFF"/>
          </a:solidFill>
          <a:ln>
            <a:noFill/>
          </a:ln>
        </p:spPr>
        <p:txBody>
          <a:bodyPr lIns="756000" anchor="ctr" anchorCtr="0"/>
          <a:lstStyle>
            <a:lvl1pPr>
              <a:defRPr sz="11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Department, Sub department or Capacity Group</a:t>
            </a:r>
          </a:p>
        </p:txBody>
      </p:sp>
    </p:spTree>
    <p:extLst>
      <p:ext uri="{BB962C8B-B14F-4D97-AF65-F5344CB8AC3E}">
        <p14:creationId xmlns:p14="http://schemas.microsoft.com/office/powerpoint/2010/main" val="22374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This is an example of a 27 </a:t>
            </a:r>
            <a:r>
              <a:rPr lang="en-GB" dirty="0" err="1"/>
              <a:t>pt</a:t>
            </a:r>
            <a:r>
              <a:rPr lang="en-GB" dirty="0"/>
              <a:t> headline with 27 </a:t>
            </a:r>
            <a:r>
              <a:rPr lang="en-GB" dirty="0" err="1"/>
              <a:t>pt</a:t>
            </a:r>
            <a:r>
              <a:rPr lang="en-GB" dirty="0"/>
              <a:t>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85793"/>
            <a:ext cx="359568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This is an example of 19,5 </a:t>
            </a:r>
            <a:r>
              <a:rPr lang="en-GB" dirty="0" err="1"/>
              <a:t>pt</a:t>
            </a:r>
            <a:r>
              <a:rPr lang="en-GB" dirty="0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606" y="1296000"/>
            <a:ext cx="3595688" cy="29331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714875" y="586800"/>
            <a:ext cx="3604419" cy="732238"/>
          </a:xfrm>
        </p:spPr>
        <p:txBody>
          <a:bodyPr anchor="t"/>
          <a:lstStyle>
            <a:lvl1pPr marL="0" indent="0">
              <a:buNone/>
              <a:defRPr lang="nl-NL" sz="195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 dirty="0"/>
              <a:t>Click to enter text</a:t>
            </a:r>
          </a:p>
        </p:txBody>
      </p:sp>
    </p:spTree>
    <p:extLst>
      <p:ext uri="{BB962C8B-B14F-4D97-AF65-F5344CB8AC3E}">
        <p14:creationId xmlns:p14="http://schemas.microsoft.com/office/powerpoint/2010/main" val="168240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 -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This is an example of 19,5 </a:t>
            </a:r>
            <a:r>
              <a:rPr lang="en-GB" dirty="0" err="1"/>
              <a:t>pt</a:t>
            </a:r>
            <a:r>
              <a:rPr lang="en-GB" dirty="0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4714875" y="0"/>
            <a:ext cx="4429125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98154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-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491013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This is an example of 19,5 </a:t>
            </a:r>
            <a:r>
              <a:rPr lang="en-GB" dirty="0" err="1"/>
              <a:t>pt</a:t>
            </a:r>
            <a:r>
              <a:rPr lang="en-GB" dirty="0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491331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6046788" y="0"/>
            <a:ext cx="3097212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27240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image/movi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/>
          <a:p>
            <a:r>
              <a:rPr lang="en-GB" dirty="0"/>
              <a:t>This is an example of a 27 </a:t>
            </a:r>
            <a:r>
              <a:rPr lang="en-GB" dirty="0" err="1"/>
              <a:t>pt</a:t>
            </a:r>
            <a:r>
              <a:rPr lang="en-GB" dirty="0"/>
              <a:t> headline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ijdelijke aanduiding voor inhoud 9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1889125" y="1079501"/>
            <a:ext cx="5292725" cy="2977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 dirty="0"/>
              <a:t>Click icon to insert 16x9 image or movie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4" hasCustomPrompt="1"/>
          </p:nvPr>
        </p:nvSpPr>
        <p:spPr>
          <a:xfrm>
            <a:off x="1889125" y="4106268"/>
            <a:ext cx="5292725" cy="165100"/>
          </a:xfrm>
        </p:spPr>
        <p:txBody>
          <a:bodyPr/>
          <a:lstStyle>
            <a:lvl1pPr>
              <a:defRPr sz="1100" i="1"/>
            </a:lvl1pPr>
          </a:lstStyle>
          <a:p>
            <a:pPr lvl="0"/>
            <a:r>
              <a:rPr lang="en-GB" dirty="0"/>
              <a:t>Click to insert Caption under image or movie</a:t>
            </a:r>
          </a:p>
        </p:txBody>
      </p:sp>
    </p:spTree>
    <p:extLst>
      <p:ext uri="{BB962C8B-B14F-4D97-AF65-F5344CB8AC3E}">
        <p14:creationId xmlns:p14="http://schemas.microsoft.com/office/powerpoint/2010/main" val="19384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 27pt headline on a slide with three images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8824" y="1306642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GB" dirty="0"/>
              <a:t>Click to enter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490913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GB" dirty="0"/>
              <a:t>Click to enter text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35414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GB" dirty="0"/>
              <a:t>Click to enter text</a:t>
            </a:r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5" hasCustomPrompt="1"/>
          </p:nvPr>
        </p:nvSpPr>
        <p:spPr>
          <a:xfrm>
            <a:off x="755650" y="1943101"/>
            <a:ext cx="2087563" cy="26252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11" name="Tijdelijke aanduiding voor afbeelding 9"/>
          <p:cNvSpPr>
            <a:spLocks noGrp="1"/>
          </p:cNvSpPr>
          <p:nvPr>
            <p:ph type="pic" sz="quarter" idx="16" hasCustomPrompt="1"/>
          </p:nvPr>
        </p:nvSpPr>
        <p:spPr>
          <a:xfrm>
            <a:off x="3487739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  <a:p>
            <a:endParaRPr lang="en-GB" dirty="0"/>
          </a:p>
        </p:txBody>
      </p:sp>
      <p:sp>
        <p:nvSpPr>
          <p:cNvPr id="12" name="Tijdelijke aanduiding voor afbeelding 9"/>
          <p:cNvSpPr>
            <a:spLocks noGrp="1"/>
          </p:cNvSpPr>
          <p:nvPr>
            <p:ph type="pic" sz="quarter" idx="17" hasCustomPrompt="1"/>
          </p:nvPr>
        </p:nvSpPr>
        <p:spPr>
          <a:xfrm>
            <a:off x="6235414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92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518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This is an example of 19,5 </a:t>
            </a:r>
            <a:r>
              <a:rPr lang="en-GB" dirty="0" err="1"/>
              <a:t>pt</a:t>
            </a:r>
            <a:r>
              <a:rPr lang="en-GB" dirty="0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20343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54513" cy="456723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8872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- 2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4405" y="586800"/>
            <a:ext cx="482092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This is an example of 19,5 </a:t>
            </a:r>
            <a:r>
              <a:rPr lang="en-GB" dirty="0" err="1"/>
              <a:t>pt</a:t>
            </a:r>
            <a:r>
              <a:rPr lang="en-GB" dirty="0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91230" y="1295401"/>
            <a:ext cx="4824095" cy="2933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022600" cy="4567238"/>
          </a:xfrm>
        </p:spPr>
        <p:txBody>
          <a:bodyPr/>
          <a:lstStyle/>
          <a:p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68122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dark imag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This is an example of a white headline on a full screen, dark image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01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light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This is an example of a black headline on a full screen, light image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68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This is an example of a black headline on a white background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7" name="Rechte verbindingslijn 6"/>
          <p:cNvCxnSpPr/>
          <p:nvPr userDrawn="1"/>
        </p:nvCxnSpPr>
        <p:spPr>
          <a:xfrm>
            <a:off x="0" y="4563782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jdelijke aanduiding voor afbeelding 8"/>
          <p:cNvSpPr>
            <a:spLocks noGrp="1"/>
          </p:cNvSpPr>
          <p:nvPr>
            <p:ph type="pic" sz="quarter" idx="13" hasCustomPrompt="1"/>
          </p:nvPr>
        </p:nvSpPr>
        <p:spPr>
          <a:xfrm>
            <a:off x="1890000" y="1299075"/>
            <a:ext cx="5292725" cy="29772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186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carlet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This is an example of a 27 </a:t>
            </a:r>
            <a:r>
              <a:rPr lang="en-GB" dirty="0" err="1"/>
              <a:t>pt</a:t>
            </a:r>
            <a:r>
              <a:rPr lang="en-GB" dirty="0"/>
              <a:t> headline with 27 </a:t>
            </a:r>
            <a:r>
              <a:rPr lang="en-GB" dirty="0" err="1"/>
              <a:t>pt</a:t>
            </a:r>
            <a:r>
              <a:rPr lang="en-GB" dirty="0"/>
              <a:t>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39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Sample slide with table and text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1" y="2638425"/>
            <a:ext cx="7563556" cy="1590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ijdelijke aanduiding voor tabel 7"/>
          <p:cNvSpPr>
            <a:spLocks noGrp="1"/>
          </p:cNvSpPr>
          <p:nvPr>
            <p:ph type="tbl" sz="quarter" idx="13" hasCustomPrompt="1"/>
          </p:nvPr>
        </p:nvSpPr>
        <p:spPr>
          <a:xfrm>
            <a:off x="755650" y="1079501"/>
            <a:ext cx="7559675" cy="115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239938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Example chart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 hasCustomPrompt="1"/>
          </p:nvPr>
        </p:nvSpPr>
        <p:spPr>
          <a:xfrm>
            <a:off x="755650" y="1079500"/>
            <a:ext cx="7559675" cy="31496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insert chart</a:t>
            </a:r>
          </a:p>
        </p:txBody>
      </p:sp>
    </p:spTree>
    <p:extLst>
      <p:ext uri="{BB962C8B-B14F-4D97-AF65-F5344CB8AC3E}">
        <p14:creationId xmlns:p14="http://schemas.microsoft.com/office/powerpoint/2010/main" val="42023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" y="4568400"/>
            <a:ext cx="1114424" cy="575100"/>
          </a:xfrm>
          <a:prstGeom prst="rect">
            <a:avLst/>
          </a:prstGeom>
          <a:solidFill>
            <a:schemeClr val="bg1"/>
          </a:solidFill>
        </p:spPr>
        <p:txBody>
          <a:bodyPr vert="horz" lIns="756000" tIns="0" rIns="0" bIns="0" rtlCol="0" anchor="ctr"/>
          <a:lstStyle>
            <a:lvl1pPr algn="l">
              <a:defRPr sz="1100" b="0">
                <a:solidFill>
                  <a:schemeClr val="tx1"/>
                </a:solidFill>
              </a:defRPr>
            </a:lvl1pPr>
          </a:lstStyle>
          <a:p>
            <a:fld id="{C194BDB0-F4EA-4DD6-8281-CCE2440D0CE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This is an example of a 27 </a:t>
            </a:r>
            <a:r>
              <a:rPr lang="en-GB" dirty="0" err="1"/>
              <a:t>pt</a:t>
            </a:r>
            <a:r>
              <a:rPr lang="en-GB" dirty="0"/>
              <a:t> headline with 27 </a:t>
            </a:r>
            <a:r>
              <a:rPr lang="en-GB" dirty="0" err="1"/>
              <a:t>pt</a:t>
            </a:r>
            <a:r>
              <a:rPr lang="en-GB" dirty="0"/>
              <a:t> line spacing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14426" y="4568400"/>
            <a:ext cx="7042149" cy="572286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/>
          <a:lstStyle>
            <a:lvl1pPr algn="l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GB"/>
              <a:t>Timo Matray</a:t>
            </a:r>
            <a:endParaRPr lang="en-GB" dirty="0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93FD69BB-9D62-3A4C-8433-C5954D52BB6F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156575" y="4568825"/>
            <a:ext cx="987425" cy="57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9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ts val="27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539750" indent="-1778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TU/e </a:t>
            </a:r>
            <a:r>
              <a:rPr lang="en-GB" dirty="0" err="1"/>
              <a:t>huisstijl</a:t>
            </a:r>
            <a:endParaRPr lang="en-GB" dirty="0"/>
          </a:p>
        </p:txBody>
      </p:sp>
      <p:sp>
        <p:nvSpPr>
          <p:cNvPr id="7" name="Ondertitel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fld id="{717EDFA8-3651-4B50-8416-AB032137A6FC}" type="datetime2">
              <a:rPr lang="en-GB" smtClean="0"/>
              <a:t>Wednesday, 10 September 2025</a:t>
            </a:fld>
            <a:endParaRPr lang="en-GB" dirty="0"/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Timo Matray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IC group, Department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Bump model</a:t>
            </a:r>
            <a:endParaRPr lang="en-GB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>
          <a:xfrm>
            <a:off x="1114426" y="4568400"/>
            <a:ext cx="7042149" cy="575100"/>
          </a:xfrm>
          <a:ln>
            <a:noFill/>
          </a:ln>
        </p:spPr>
        <p:txBody>
          <a:bodyPr/>
          <a:lstStyle/>
          <a:p>
            <a:r>
              <a:rPr lang="en-GB" dirty="0"/>
              <a:t>Timo Matray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3EDD85-70D2-AD82-8306-812B050A42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512" y="1306513"/>
            <a:ext cx="6711125" cy="292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16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A7040-C620-B169-E2F0-AAF6B2267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77AEC-8544-255A-EDDB-1B2AFF702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087B0-7603-DD90-6165-3A65C0880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3</a:t>
            </a:fld>
            <a:endParaRPr lang="en-GB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2C5FE6B-AB5A-4E93-4B7B-FA3271459C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91996" y="1306513"/>
            <a:ext cx="6490158" cy="292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64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AE103-CBE5-E55B-DF9C-D751EEE47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5841A-3E9C-90A1-F097-05D1CE920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ground paths</a:t>
            </a:r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E9190-3C87-A96A-B8BE-918DB8B4B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E4FE0-BAD3-1517-14DA-70CFEB6A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4</a:t>
            </a:fld>
            <a:endParaRPr lang="en-GB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4E126A3-F373-90A1-C560-D86667585D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" y="1477100"/>
            <a:ext cx="7556500" cy="2581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37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F70E-2228-EEBB-0F18-A2FEF2CA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RCL</a:t>
            </a:r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FC40A-F020-5A39-7CD1-0DA53741E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6B0A1-DFEB-F029-40E8-C07A66C39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5</a:t>
            </a:fld>
            <a:endParaRPr lang="en-GB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3DBBA8D-4072-5BDF-FEB1-813C79F56A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" y="1546439"/>
            <a:ext cx="7556500" cy="244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1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5E3218-094B-C017-9C05-1CFDD162D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Impedance fitting</a:t>
            </a:r>
            <a:endParaRPr lang="en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B26C1D-6CD7-3804-5DF7-D1B382F38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063A1-1F74-3ECC-6A2F-792E575B6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117396-B1F5-FA0B-FA25-35C6B483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185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2A794-35D7-6BDF-94CD-9C703522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37BF47A1-76B4-B76B-8AA5-C486BCF76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 b="1" dirty="0"/>
              <a:t>CRL</a:t>
            </a:r>
            <a:endParaRPr lang="en-NL" sz="2700" b="1" dirty="0"/>
          </a:p>
        </p:txBody>
      </p:sp>
      <p:pic>
        <p:nvPicPr>
          <p:cNvPr id="31" name="Content Placeholder 30">
            <a:extLst>
              <a:ext uri="{FF2B5EF4-FFF2-40B4-BE49-F238E27FC236}">
                <a16:creationId xmlns:a16="http://schemas.microsoft.com/office/drawing/2014/main" id="{A76EE305-A3D3-0FCD-C9C0-015BAD1BFA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22813" y="1413272"/>
            <a:ext cx="3597275" cy="269795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309EE9-8D93-DCC2-6871-7169365C9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6D1C3-C9E9-80CB-3114-ED801B8C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7</a:t>
            </a:fld>
            <a:endParaRPr lang="en-GB" dirty="0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CE70109-A82A-3154-B3E1-2CC071242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650" y="2445091"/>
            <a:ext cx="3598863" cy="1784009"/>
          </a:xfrm>
        </p:spPr>
        <p:txBody>
          <a:bodyPr/>
          <a:lstStyle/>
          <a:p>
            <a:r>
              <a:rPr lang="en-US" dirty="0"/>
              <a:t>R = 3.45 Ohm</a:t>
            </a:r>
          </a:p>
          <a:p>
            <a:r>
              <a:rPr lang="en-US" dirty="0"/>
              <a:t>L = 218 </a:t>
            </a:r>
            <a:r>
              <a:rPr lang="en-US" dirty="0" err="1"/>
              <a:t>nH</a:t>
            </a:r>
            <a:endParaRPr lang="en-US" dirty="0"/>
          </a:p>
          <a:p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 dirty="0"/>
              <a:t> = 1.04 pF</a:t>
            </a:r>
            <a:endParaRPr lang="en-NL" dirty="0"/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71701169-E117-3241-D830-75EB1D331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5652" y="1292587"/>
            <a:ext cx="3598859" cy="1152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748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4B2D5-C055-F743-C2E1-A17B161FE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E2FC7124-3FAA-614E-5C57-746870E1B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 b="1" dirty="0"/>
              <a:t>CRLC</a:t>
            </a:r>
            <a:endParaRPr lang="en-NL" sz="27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85A524-AEDE-36F6-E058-B10E501D4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8239D5-B651-A1EB-5BDA-B675ABB2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8</a:t>
            </a:fld>
            <a:endParaRPr lang="en-GB" dirty="0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E4537541-80D6-3349-9C93-362CD2513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650" y="2445091"/>
            <a:ext cx="3598863" cy="1784009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= 295 </a:t>
            </a:r>
            <a:r>
              <a:rPr lang="en-US" dirty="0" err="1"/>
              <a:t>fF</a:t>
            </a:r>
            <a:endParaRPr lang="en-NL" dirty="0"/>
          </a:p>
          <a:p>
            <a:r>
              <a:rPr lang="en-US" dirty="0"/>
              <a:t>R = 3.45 Ohm</a:t>
            </a:r>
          </a:p>
          <a:p>
            <a:r>
              <a:rPr lang="en-US" dirty="0"/>
              <a:t>L = 179 pH</a:t>
            </a:r>
          </a:p>
          <a:p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 dirty="0"/>
              <a:t> = -1.22 pF</a:t>
            </a:r>
            <a:endParaRPr lang="en-NL" dirty="0"/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15276C70-C222-A049-AD09-389C15CD5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5652" y="1292587"/>
            <a:ext cx="3598859" cy="1152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FDC11C-1A9F-B330-8A11-5B691A47AA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22813" y="1413272"/>
            <a:ext cx="3597275" cy="269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7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A7461-BA1E-E608-F2A8-8EFB0B5E9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65D70BA1-5CE8-5EF2-2069-FDF34CE8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 b="1" dirty="0"/>
              <a:t>CRL</a:t>
            </a:r>
            <a:endParaRPr lang="en-NL" sz="27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9E610-C9E6-F8EC-FD30-29167E52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7D558-DD19-4492-7603-530FB3BC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9</a:t>
            </a:fld>
            <a:endParaRPr lang="en-GB" dirty="0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D97AF86D-E8CE-4240-037C-7BE2BF8A12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650" y="2445091"/>
            <a:ext cx="3598863" cy="1784009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= 261 </a:t>
            </a:r>
            <a:r>
              <a:rPr lang="en-US" dirty="0" err="1"/>
              <a:t>fF</a:t>
            </a:r>
            <a:endParaRPr lang="en-NL" dirty="0"/>
          </a:p>
          <a:p>
            <a:r>
              <a:rPr lang="en-US" dirty="0"/>
              <a:t>R = 3.45 Ohm</a:t>
            </a:r>
          </a:p>
          <a:p>
            <a:r>
              <a:rPr lang="en-US" dirty="0"/>
              <a:t>L = 158 pH</a:t>
            </a:r>
            <a:endParaRPr lang="en-NL" dirty="0"/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846043CD-D167-8A00-D5B2-CDB5282BD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5652" y="1292587"/>
            <a:ext cx="3598859" cy="1152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127D99-A946-B037-D92A-7B5F14FF38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22813" y="1413272"/>
            <a:ext cx="3597275" cy="269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1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84C12-7D33-9BE8-64F4-471E67BE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168ED0D-2C68-1F6F-21FF-F6282732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 b="1" dirty="0"/>
              <a:t>CRL (R not fixed)</a:t>
            </a:r>
            <a:endParaRPr lang="en-NL" sz="27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464F3-AAB2-F6C0-AB8A-7CC51A1B3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59329-6159-18B6-E367-0321A99EA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10</a:t>
            </a:fld>
            <a:endParaRPr lang="en-GB" dirty="0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22649AD9-9043-84A2-8AAE-8A9CA2C3C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650" y="2445091"/>
            <a:ext cx="3598863" cy="1784009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= 185 </a:t>
            </a:r>
            <a:r>
              <a:rPr lang="en-US" dirty="0" err="1"/>
              <a:t>fF</a:t>
            </a:r>
            <a:endParaRPr lang="en-NL" dirty="0"/>
          </a:p>
          <a:p>
            <a:r>
              <a:rPr lang="en-US" dirty="0"/>
              <a:t>R = 5.53 Ohm</a:t>
            </a:r>
          </a:p>
          <a:p>
            <a:r>
              <a:rPr lang="en-US" dirty="0"/>
              <a:t>L = 201 pH</a:t>
            </a:r>
            <a:endParaRPr lang="en-NL" dirty="0"/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970583C9-A824-54FB-1E33-29B1B7931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5652" y="1292587"/>
            <a:ext cx="3598859" cy="1152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2CD78CB-EAD3-3FC1-1D11-9149828EA5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22813" y="1413272"/>
            <a:ext cx="3597275" cy="269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95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A6299-0715-9C06-FD51-85AE28125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7AC3C011-CCB6-8EFB-608A-49A4FC94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 b="1" dirty="0"/>
              <a:t>CRL</a:t>
            </a:r>
            <a:endParaRPr lang="en-NL" sz="27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DF140-B101-B0A1-A758-AA14F4F00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002CDB-DD69-037E-4304-DD751A955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11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F842E-25AA-9559-987E-C709D2E0ED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= 261 </a:t>
            </a:r>
            <a:r>
              <a:rPr lang="en-US" dirty="0" err="1"/>
              <a:t>fF</a:t>
            </a:r>
            <a:endParaRPr lang="en-NL" dirty="0"/>
          </a:p>
          <a:p>
            <a:r>
              <a:rPr lang="en-US" dirty="0"/>
              <a:t>R = 3.45 Ohm</a:t>
            </a:r>
          </a:p>
          <a:p>
            <a:r>
              <a:rPr lang="en-US" dirty="0"/>
              <a:t>L = 158 pH</a:t>
            </a:r>
          </a:p>
          <a:p>
            <a:endParaRPr lang="en-US" dirty="0"/>
          </a:p>
          <a:p>
            <a:r>
              <a:rPr lang="en-US" dirty="0" err="1"/>
              <a:t>e</a:t>
            </a:r>
            <a:r>
              <a:rPr lang="en-US" baseline="-25000" dirty="0" err="1"/>
              <a:t>z,rel,max</a:t>
            </a:r>
            <a:r>
              <a:rPr lang="en-US" dirty="0"/>
              <a:t> = 8.70 Ohm (30.6%)</a:t>
            </a:r>
          </a:p>
          <a:p>
            <a:r>
              <a:rPr lang="en-US" dirty="0"/>
              <a:t>@ 6.02 GHz</a:t>
            </a:r>
          </a:p>
          <a:p>
            <a:endParaRPr lang="en-US" dirty="0"/>
          </a:p>
          <a:p>
            <a:r>
              <a:rPr lang="en-US" dirty="0" err="1"/>
              <a:t>e</a:t>
            </a:r>
            <a:r>
              <a:rPr lang="en-US" baseline="-25000" dirty="0" err="1"/>
              <a:t>z,abs,max</a:t>
            </a:r>
            <a:r>
              <a:rPr lang="en-US" dirty="0"/>
              <a:t> = 10.3 Ohm (17.8%)</a:t>
            </a:r>
          </a:p>
          <a:p>
            <a:r>
              <a:rPr lang="en-US" dirty="0"/>
              <a:t>@ 10.0 GHz</a:t>
            </a:r>
          </a:p>
          <a:p>
            <a:endParaRPr lang="en-US" dirty="0"/>
          </a:p>
          <a:p>
            <a:r>
              <a:rPr lang="en-US" dirty="0" err="1"/>
              <a:t>e</a:t>
            </a:r>
            <a:r>
              <a:rPr lang="en-US" baseline="-25000" dirty="0" err="1"/>
              <a:t>z,abs</a:t>
            </a:r>
            <a:r>
              <a:rPr lang="en-US" dirty="0"/>
              <a:t> = 8.80 Ohm</a:t>
            </a:r>
          </a:p>
          <a:p>
            <a:r>
              <a:rPr lang="en-US" dirty="0"/>
              <a:t>@ 6.23 GHz &amp; 9.89 GHz</a:t>
            </a:r>
          </a:p>
          <a:p>
            <a:endParaRPr lang="en-US" dirty="0"/>
          </a:p>
          <a:p>
            <a:endParaRPr lang="en-NL" dirty="0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2943426D-4601-4168-2802-32D22AB7031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55650" y="1412676"/>
            <a:ext cx="3598863" cy="269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431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C3875B-8958-82A9-BB26-DC05D636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S11 fitting</a:t>
            </a:r>
            <a:endParaRPr lang="en-NL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A64FE2-9B3B-0C9D-D49C-6147E324D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EC78A-7050-8279-B640-D05F5DAED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88D5F-D4EF-ABA7-9794-08B95EAC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004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DCAB-9599-8E67-C86D-3EA7C029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D05B20E-79D8-905F-7357-AAE3E45C2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 b="1" dirty="0"/>
              <a:t>CRL (R not fixed)</a:t>
            </a:r>
            <a:endParaRPr lang="en-NL" sz="27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CCFECA-C60A-A079-19B8-E9AA1AF3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8FD44-F564-BED2-0533-5ACA5B7B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13</a:t>
            </a:fld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D22227-037B-4ED0-F787-96C3915B4F7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S11</a:t>
            </a:r>
            <a:endParaRPr lang="en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0EF08-2705-7B5A-92D9-743D2481E1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= 185 </a:t>
            </a:r>
            <a:r>
              <a:rPr lang="en-US" dirty="0" err="1"/>
              <a:t>fF</a:t>
            </a:r>
            <a:endParaRPr lang="en-NL" dirty="0"/>
          </a:p>
          <a:p>
            <a:r>
              <a:rPr lang="en-US" dirty="0"/>
              <a:t>R = 5.16 Ohm</a:t>
            </a:r>
          </a:p>
          <a:p>
            <a:r>
              <a:rPr lang="en-US" dirty="0"/>
              <a:t>L = 211 pH</a:t>
            </a:r>
            <a:endParaRPr lang="en-NL" dirty="0"/>
          </a:p>
          <a:p>
            <a:endParaRPr lang="en-NL" dirty="0"/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15F4815C-3251-3721-C7AE-997F7006DE9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5" t="-34382" r="-305" b="-34382"/>
          <a:stretch>
            <a:fillRect/>
          </a:stretch>
        </p:blipFill>
        <p:spPr>
          <a:xfrm>
            <a:off x="5909317" y="1057749"/>
            <a:ext cx="2739758" cy="344549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6464C77-D966-2EF8-81F6-58F0A14BA82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Impedance</a:t>
            </a:r>
            <a:endParaRPr lang="en-NL" dirty="0"/>
          </a:p>
        </p:txBody>
      </p:sp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863FCD2D-EC39-4A23-5A4E-B278EC68BCCB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/>
          <a:srcRect t="-33853" b="-33853"/>
          <a:stretch>
            <a:fillRect/>
          </a:stretch>
        </p:blipFill>
        <p:spPr>
          <a:xfrm>
            <a:off x="3161641" y="1057682"/>
            <a:ext cx="2739756" cy="3446050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DE850A47-F128-A46D-1F4F-54FF75BF01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7103" y="1306513"/>
            <a:ext cx="1987832" cy="63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85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CDA05-C0DC-6FDB-F0E1-7FB307338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FDB647B6-6FC5-192B-911A-174189A50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 b="1" dirty="0"/>
              <a:t>CRL</a:t>
            </a:r>
            <a:endParaRPr lang="en-NL" sz="27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DB782-3852-57DA-B884-E932C325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26FD4-9F44-33C8-EE50-7018E64B6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14</a:t>
            </a:fld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2E96A8-CF49-200A-9B07-2709A9AFB73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S11</a:t>
            </a:r>
            <a:endParaRPr lang="en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68B82F-74C2-AC63-D647-501CD6FC9AE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= 249 </a:t>
            </a:r>
            <a:r>
              <a:rPr lang="en-US" dirty="0" err="1"/>
              <a:t>fF</a:t>
            </a:r>
            <a:endParaRPr lang="en-NL" dirty="0"/>
          </a:p>
          <a:p>
            <a:r>
              <a:rPr lang="en-US" dirty="0"/>
              <a:t>R = 3.45 Ohm</a:t>
            </a:r>
          </a:p>
          <a:p>
            <a:r>
              <a:rPr lang="en-US" dirty="0"/>
              <a:t>L = 178 pH</a:t>
            </a:r>
            <a:endParaRPr lang="en-NL" dirty="0"/>
          </a:p>
          <a:p>
            <a:endParaRPr lang="en-NL" dirty="0"/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6330CBAB-FECE-347D-7E92-B626C311399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" t="-33450" r="251" b="-33450"/>
          <a:stretch>
            <a:fillRect/>
          </a:stretch>
        </p:blipFill>
        <p:spPr>
          <a:xfrm>
            <a:off x="5909317" y="1057749"/>
            <a:ext cx="2739758" cy="344549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D88B17E-CDB8-623E-FE54-FE875322128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Impedance</a:t>
            </a:r>
            <a:endParaRPr lang="en-NL" dirty="0"/>
          </a:p>
        </p:txBody>
      </p:sp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DE907570-49C7-1BE4-CFCC-0A8517A4AC4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" t="-33463" r="251" b="-33463"/>
          <a:stretch>
            <a:fillRect/>
          </a:stretch>
        </p:blipFill>
        <p:spPr>
          <a:xfrm>
            <a:off x="3161641" y="1057682"/>
            <a:ext cx="2739756" cy="3446050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ED8ECCE0-5438-22ED-DE56-241583B92B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7103" y="1306513"/>
            <a:ext cx="1987832" cy="63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80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5F62-94E5-939B-70D2-B6F33EE06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E180B46F-E733-1948-1F60-7364D6A71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 b="1" dirty="0"/>
              <a:t>CRL (optimized up to 5 GHz)</a:t>
            </a:r>
            <a:endParaRPr lang="en-NL" sz="27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94E90-800B-07E5-9250-CECA5EAE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Timo Matray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636FA-7403-D44C-80BF-01B3E154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15</a:t>
            </a:fld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6C2CDF-E67C-B52E-8E2D-AF8214190A6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S11</a:t>
            </a:r>
            <a:endParaRPr lang="en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56A665-4B56-BE10-518D-0E4EE4E7E4D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= 249 </a:t>
            </a:r>
            <a:r>
              <a:rPr lang="en-US" dirty="0" err="1"/>
              <a:t>fF</a:t>
            </a:r>
            <a:endParaRPr lang="en-NL" dirty="0"/>
          </a:p>
          <a:p>
            <a:r>
              <a:rPr lang="en-US" dirty="0"/>
              <a:t>R = 3.45 Ohm</a:t>
            </a:r>
          </a:p>
          <a:p>
            <a:r>
              <a:rPr lang="en-US" dirty="0"/>
              <a:t>L = 178 pH</a:t>
            </a:r>
            <a:endParaRPr lang="en-NL" dirty="0"/>
          </a:p>
          <a:p>
            <a:endParaRPr lang="en-NL" dirty="0"/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16C1477F-4AB8-D489-495C-082FC8B7BF4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" t="-33450" r="251" b="-33450"/>
          <a:stretch>
            <a:fillRect/>
          </a:stretch>
        </p:blipFill>
        <p:spPr>
          <a:xfrm>
            <a:off x="5909317" y="1057749"/>
            <a:ext cx="2739758" cy="344549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9111CA3-3090-A521-104A-134CC3CBF7D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Impedance</a:t>
            </a:r>
            <a:endParaRPr lang="en-NL" dirty="0"/>
          </a:p>
        </p:txBody>
      </p:sp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D6CB0FDD-9D61-5976-0BF5-F6CA56D6C3A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" t="-33463" r="251" b="-33463"/>
          <a:stretch>
            <a:fillRect/>
          </a:stretch>
        </p:blipFill>
        <p:spPr>
          <a:xfrm>
            <a:off x="3161641" y="1057682"/>
            <a:ext cx="2739756" cy="3446050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79F5973B-DEE9-2694-C2C8-053C9E96A6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7103" y="1306513"/>
            <a:ext cx="1987832" cy="63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780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8CD6BA0C-4AB6-493D-A9BF-1894E7C23DB8}" vid="{34B09DF8-D299-4EF6-A302-B0A5D87DC46F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TUe huisstijl</Template>
  <TotalTime>407</TotalTime>
  <Words>240</Words>
  <Application>Microsoft Office PowerPoint</Application>
  <PresentationFormat>On-screen Show (16:9)</PresentationFormat>
  <Paragraphs>87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Kantoorthema</vt:lpstr>
      <vt:lpstr>TU/e huisstijl</vt:lpstr>
      <vt:lpstr>Bump model</vt:lpstr>
      <vt:lpstr>PowerPoint Presentation</vt:lpstr>
      <vt:lpstr>Parallel ground paths</vt:lpstr>
      <vt:lpstr>RCL</vt:lpstr>
      <vt:lpstr>Impedance fitting</vt:lpstr>
      <vt:lpstr>CRL</vt:lpstr>
      <vt:lpstr>CRLC</vt:lpstr>
      <vt:lpstr>CRL</vt:lpstr>
      <vt:lpstr>CRL (R not fixed)</vt:lpstr>
      <vt:lpstr>CRL</vt:lpstr>
      <vt:lpstr>S11 fitting</vt:lpstr>
      <vt:lpstr>CRL (R not fixed)</vt:lpstr>
      <vt:lpstr>CRL</vt:lpstr>
      <vt:lpstr>CRL (optimized up to 5 GHz)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Matray, Timo</dc:creator>
  <cp:lastModifiedBy>Matray, Timo</cp:lastModifiedBy>
  <cp:revision>1</cp:revision>
  <dcterms:created xsi:type="dcterms:W3CDTF">2025-09-10T10:41:11Z</dcterms:created>
  <dcterms:modified xsi:type="dcterms:W3CDTF">2025-09-10T17:28:17Z</dcterms:modified>
</cp:coreProperties>
</file>